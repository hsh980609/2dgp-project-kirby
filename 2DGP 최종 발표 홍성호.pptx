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6" r:id="rId2"/>
    <p:sldId id="267" r:id="rId3"/>
    <p:sldId id="269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329" userDrawn="1">
          <p15:clr>
            <a:srgbClr val="A4A3A4"/>
          </p15:clr>
        </p15:guide>
        <p15:guide id="3" orient="horz" pos="2341" userDrawn="1">
          <p15:clr>
            <a:srgbClr val="A4A3A4"/>
          </p15:clr>
        </p15:guide>
        <p15:guide id="4" pos="2880" userDrawn="1">
          <p15:clr>
            <a:srgbClr val="A4A3A4"/>
          </p15:clr>
        </p15:guide>
        <p15:guide id="5" pos="54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0D39FD-2222-4415-A1D3-A50C140AEC07}" v="41" dt="2025-12-07T07:45:26.736"/>
    <p1510:client id="{EB0E84B3-DF50-4403-9211-8995CE0813C8}" v="2266" dt="2025-12-07T09:24:36.8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958"/>
        <p:guide pos="329"/>
        <p:guide orient="horz" pos="2341"/>
        <p:guide pos="2880"/>
        <p:guide pos="543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79F3D-B27E-A841-AD85-E047A684E96B}" type="datetimeFigureOut">
              <a:rPr kumimoji="1" lang="ko-KR" altLang="en-US" smtClean="0"/>
              <a:t>2025-12-07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EA32F-F969-A048-884F-E597A1FB26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42381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A32F-F969-A048-884F-E597A1FB2650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81105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A32F-F969-A048-884F-E597A1FB2650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6389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91607-116B-D569-06B5-BA1802A3C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7C8B45-B9B5-427D-8E3F-BE8DB660C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E68012-8434-BE22-21C8-2B7D1927E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6D7934-2799-45E6-858E-8EA230B05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A32F-F969-A048-884F-E597A1FB2650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2398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4D03-0658-9040-A446-6CC906902077}" type="datetimeFigureOut">
              <a:rPr kumimoji="1" lang="ko-KR" altLang="en-US" smtClean="0"/>
              <a:t>2025-12-07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67779-4222-064F-AB25-E7D76065CFA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6820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4D03-0658-9040-A446-6CC906902077}" type="datetimeFigureOut">
              <a:rPr kumimoji="1" lang="ko-KR" altLang="en-US" smtClean="0"/>
              <a:t>2025-12-07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67779-4222-064F-AB25-E7D76065CFA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9309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4D03-0658-9040-A446-6CC906902077}" type="datetimeFigureOut">
              <a:rPr kumimoji="1" lang="ko-KR" altLang="en-US" smtClean="0"/>
              <a:t>2025-12-07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67779-4222-064F-AB25-E7D76065CFA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8658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4D03-0658-9040-A446-6CC906902077}" type="datetimeFigureOut">
              <a:rPr kumimoji="1" lang="ko-KR" altLang="en-US" smtClean="0"/>
              <a:t>2025-12-07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67779-4222-064F-AB25-E7D76065CFA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54492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4D03-0658-9040-A446-6CC906902077}" type="datetimeFigureOut">
              <a:rPr kumimoji="1" lang="ko-KR" altLang="en-US" smtClean="0"/>
              <a:t>2025-12-07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67779-4222-064F-AB25-E7D76065CFA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4216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4D03-0658-9040-A446-6CC906902077}" type="datetimeFigureOut">
              <a:rPr kumimoji="1" lang="ko-KR" altLang="en-US" smtClean="0"/>
              <a:t>2025-12-07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67779-4222-064F-AB25-E7D76065CFA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0866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4D03-0658-9040-A446-6CC906902077}" type="datetimeFigureOut">
              <a:rPr kumimoji="1" lang="ko-KR" altLang="en-US" smtClean="0"/>
              <a:t>2025-12-07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67779-4222-064F-AB25-E7D76065CFA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3497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4D03-0658-9040-A446-6CC906902077}" type="datetimeFigureOut">
              <a:rPr kumimoji="1" lang="ko-KR" altLang="en-US" smtClean="0"/>
              <a:t>2025-12-07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67779-4222-064F-AB25-E7D76065CFA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49701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4D03-0658-9040-A446-6CC906902077}" type="datetimeFigureOut">
              <a:rPr kumimoji="1" lang="ko-KR" altLang="en-US" smtClean="0"/>
              <a:t>2025-12-07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67779-4222-064F-AB25-E7D76065CFA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6957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4D03-0658-9040-A446-6CC906902077}" type="datetimeFigureOut">
              <a:rPr kumimoji="1" lang="ko-KR" altLang="en-US" smtClean="0"/>
              <a:t>2025-12-07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67779-4222-064F-AB25-E7D76065CFA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305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4D03-0658-9040-A446-6CC906902077}" type="datetimeFigureOut">
              <a:rPr kumimoji="1" lang="ko-KR" altLang="en-US" smtClean="0"/>
              <a:t>2025-12-07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67779-4222-064F-AB25-E7D76065CFA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52121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D4D03-0658-9040-A446-6CC906902077}" type="datetimeFigureOut">
              <a:rPr kumimoji="1" lang="ko-KR" altLang="en-US" smtClean="0"/>
              <a:t>2025-12-07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67779-4222-064F-AB25-E7D76065CFA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3325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DAA073EC-2206-6CCA-CB9F-ECA84540C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5246" y="4485404"/>
            <a:ext cx="3101196" cy="13805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kumimoji="1" lang="en-US" b="1">
                <a:latin typeface="Malgun Gothic"/>
                <a:ea typeface="Malgun Gothic"/>
                <a:cs typeface="KoPubWorldDotum Medium" pitchFamily="2" charset="-127"/>
              </a:rPr>
              <a:t>2021184042 </a:t>
            </a:r>
          </a:p>
          <a:p>
            <a:pPr algn="l">
              <a:lnSpc>
                <a:spcPct val="150000"/>
              </a:lnSpc>
            </a:pPr>
            <a:r>
              <a:rPr kumimoji="1" lang="ko-KR" b="1">
                <a:latin typeface="Malgun Gothic"/>
                <a:ea typeface="Malgun Gothic"/>
                <a:cs typeface="KoPubWorldDotum Medium" pitchFamily="2" charset="-127"/>
              </a:rPr>
              <a:t>홍성호</a:t>
            </a:r>
            <a:endParaRPr lang="en-US" b="1">
              <a:latin typeface="Malgun Gothic"/>
              <a:ea typeface="Malgun Gothic"/>
            </a:endParaRPr>
          </a:p>
          <a:p>
            <a:pPr>
              <a:lnSpc>
                <a:spcPct val="150000"/>
              </a:lnSpc>
            </a:pPr>
            <a:endParaRPr kumimoji="1" lang="ko-KR" altLang="en-US" sz="1575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B635EA05-5799-10DA-6F3C-7560978B86F9}"/>
              </a:ext>
            </a:extLst>
          </p:cNvPr>
          <p:cNvSpPr txBox="1">
            <a:spLocks/>
          </p:cNvSpPr>
          <p:nvPr/>
        </p:nvSpPr>
        <p:spPr>
          <a:xfrm>
            <a:off x="366548" y="337336"/>
            <a:ext cx="1809093" cy="69212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endParaRPr kumimoji="1" lang="ko-KR" altLang="en-US" sz="150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573AE70-C945-85F6-2543-15BEB354537C}"/>
              </a:ext>
            </a:extLst>
          </p:cNvPr>
          <p:cNvSpPr>
            <a:spLocks noGrp="1"/>
          </p:cNvSpPr>
          <p:nvPr/>
        </p:nvSpPr>
        <p:spPr>
          <a:xfrm>
            <a:off x="1143000" y="1229189"/>
            <a:ext cx="6858000" cy="3120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en-US" altLang="ko-KR" sz="4000" b="1" dirty="0">
                <a:solidFill>
                  <a:schemeClr val="accent5"/>
                </a:solidFill>
                <a:latin typeface="KoPubWorldDotum Medium" pitchFamily="2" charset="-127"/>
                <a:ea typeface="KoPubWorldDotum Medium"/>
                <a:cs typeface="KoPubWorldDotum Medium" pitchFamily="2" charset="-127"/>
              </a:rPr>
              <a:t>2025 2D </a:t>
            </a:r>
            <a:r>
              <a:rPr kumimoji="1" lang="ko-KR" altLang="en-US" sz="4000" b="1" dirty="0">
                <a:solidFill>
                  <a:schemeClr val="accent5"/>
                </a:solidFill>
                <a:latin typeface="KoPubWorldDotum Medium" pitchFamily="2" charset="-127"/>
                <a:ea typeface="KoPubWorldDotum Medium"/>
                <a:cs typeface="KoPubWorldDotum Medium" pitchFamily="2" charset="-127"/>
              </a:rPr>
              <a:t>게임 프로그래밍</a:t>
            </a:r>
            <a:br>
              <a:rPr lang="en-US" altLang="ko-KR" sz="24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</a:br>
            <a:r>
              <a:rPr kumimoji="1" lang="ko-KR" altLang="en-US" sz="2400" b="1" dirty="0">
                <a:latin typeface="KoPubWorldDotum Medium" pitchFamily="2" charset="-127"/>
                <a:ea typeface="KoPubWorldDotum Medium"/>
                <a:cs typeface="KoPubWorldDotum Medium" pitchFamily="2" charset="-127"/>
              </a:rPr>
              <a:t> 프로젝트 최종 발표</a:t>
            </a:r>
            <a:br>
              <a:rPr lang="en-US" altLang="ko-KR" sz="24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</a:br>
            <a:endParaRPr lang="en-US" altLang="ko-KR" sz="240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2786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A0FF63F-F285-6DF5-D068-63AE3B1E1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539044"/>
              </p:ext>
            </p:extLst>
          </p:nvPr>
        </p:nvGraphicFramePr>
        <p:xfrm>
          <a:off x="523055" y="352209"/>
          <a:ext cx="8097891" cy="832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7891">
                  <a:extLst>
                    <a:ext uri="{9D8B030D-6E8A-4147-A177-3AD203B41FA5}">
                      <a16:colId xmlns:a16="http://schemas.microsoft.com/office/drawing/2014/main" val="2641068669"/>
                    </a:ext>
                  </a:extLst>
                </a:gridCol>
              </a:tblGrid>
              <a:tr h="832409"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2400" b="1" i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WorldDotum Bold"/>
                          <a:ea typeface="KoPubWorldDotum Bold"/>
                          <a:cs typeface="KoPubWorldDotum Bold" pitchFamily="2" charset="-127"/>
                        </a:rPr>
                        <a:t>개발 진척도</a:t>
                      </a:r>
                      <a:endParaRPr lang="ko-KR" altLang="en-US" sz="2100" b="1" i="0" dirty="0">
                        <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WorldDotum Bold"/>
                        <a:ea typeface="KoPubWorldDotum Bold" pitchFamily="2" charset="-127"/>
                        <a:cs typeface="KoPubWorldDotum Bold" pitchFamily="2" charset="-127"/>
                      </a:endParaRP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94861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5212A25-9539-5AD9-7647-56A1D557E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722416"/>
              </p:ext>
            </p:extLst>
          </p:nvPr>
        </p:nvGraphicFramePr>
        <p:xfrm>
          <a:off x="523055" y="1629429"/>
          <a:ext cx="8087787" cy="4471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778">
                  <a:extLst>
                    <a:ext uri="{9D8B030D-6E8A-4147-A177-3AD203B41FA5}">
                      <a16:colId xmlns:a16="http://schemas.microsoft.com/office/drawing/2014/main" val="3835650262"/>
                    </a:ext>
                  </a:extLst>
                </a:gridCol>
                <a:gridCol w="2356805">
                  <a:extLst>
                    <a:ext uri="{9D8B030D-6E8A-4147-A177-3AD203B41FA5}">
                      <a16:colId xmlns:a16="http://schemas.microsoft.com/office/drawing/2014/main" val="1421672400"/>
                    </a:ext>
                  </a:extLst>
                </a:gridCol>
                <a:gridCol w="3064671">
                  <a:extLst>
                    <a:ext uri="{9D8B030D-6E8A-4147-A177-3AD203B41FA5}">
                      <a16:colId xmlns:a16="http://schemas.microsoft.com/office/drawing/2014/main" val="536480190"/>
                    </a:ext>
                  </a:extLst>
                </a:gridCol>
                <a:gridCol w="1153533">
                  <a:extLst>
                    <a:ext uri="{9D8B030D-6E8A-4147-A177-3AD203B41FA5}">
                      <a16:colId xmlns:a16="http://schemas.microsoft.com/office/drawing/2014/main" val="1427593846"/>
                    </a:ext>
                  </a:extLst>
                </a:gridCol>
              </a:tblGrid>
              <a:tr h="3564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목표범위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400" b="1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실제 개발 완료 범위</a:t>
                      </a:r>
                      <a:endParaRPr lang="ko-KR" altLang="en-US" sz="1400" b="1" i="0" u="none" strike="noStrike" noProof="0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400" b="1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진척도</a:t>
                      </a:r>
                      <a:endParaRPr lang="ko-KR" sz="1400" b="1" i="0" u="none" strike="noStrike" noProof="0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115364"/>
                  </a:ext>
                </a:extLst>
              </a:tr>
              <a:tr h="6535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/>
                        <a:t>일반</a:t>
                      </a:r>
                      <a:r>
                        <a:rPr lang="en-US" altLang="ko-KR" sz="1400" b="0" dirty="0"/>
                        <a:t> </a:t>
                      </a:r>
                      <a:r>
                        <a:rPr lang="en-US" altLang="ko-KR" sz="1400" b="0" dirty="0" err="1"/>
                        <a:t>스테이지</a:t>
                      </a:r>
                      <a:r>
                        <a:rPr lang="en-US" altLang="ko-KR" sz="1400" b="0" dirty="0"/>
                        <a:t>, </a:t>
                      </a:r>
                      <a:r>
                        <a:rPr lang="en-US" altLang="ko-KR" sz="1400" b="0" dirty="0" err="1"/>
                        <a:t>보스</a:t>
                      </a:r>
                      <a:r>
                        <a:rPr lang="en-US" altLang="ko-KR" sz="1400" b="0" dirty="0"/>
                        <a:t> 룸 </a:t>
                      </a:r>
                      <a:r>
                        <a:rPr lang="en-US" altLang="ko-KR" sz="1400" b="0" dirty="0" err="1"/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스테이지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 2종 </a:t>
                      </a: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528308"/>
                  </a:ext>
                </a:extLst>
              </a:tr>
              <a:tr h="876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/>
                        <a:t>캐릭터</a:t>
                      </a:r>
                      <a:r>
                        <a:rPr lang="en-US" altLang="ko-KR" sz="1400" b="1" dirty="0"/>
                        <a:t> </a:t>
                      </a:r>
                      <a:r>
                        <a:rPr lang="en-US" altLang="ko-KR" sz="1400" b="1" dirty="0" err="1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/>
                        <a:t>커비</a:t>
                      </a:r>
                      <a:r>
                        <a:rPr lang="en-US" altLang="ko-KR" sz="1400" b="0" dirty="0"/>
                        <a:t> 13종</a:t>
                      </a:r>
                      <a:br>
                        <a:rPr lang="en-US" altLang="ko-KR" sz="1400" b="0" dirty="0"/>
                      </a:br>
                      <a:r>
                        <a:rPr lang="en-US" altLang="ko-KR" sz="1400" b="0" dirty="0"/>
                        <a:t>몬스터2종</a:t>
                      </a:r>
                      <a:br>
                        <a:rPr lang="en-US" dirty="0"/>
                      </a:br>
                      <a:r>
                        <a:rPr lang="en-US" altLang="ko-KR" sz="1400" b="0" dirty="0" err="1"/>
                        <a:t>보스</a:t>
                      </a:r>
                      <a:r>
                        <a:rPr lang="en-US" altLang="ko-KR" sz="1400" b="0" dirty="0"/>
                        <a:t> 6종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커비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 13종(</a:t>
                      </a: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Idle,Run,Fly,Suction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...)</a:t>
                      </a:r>
                      <a:endParaRPr lang="ko-KR" altLang="en-US" dirty="0"/>
                    </a:p>
                    <a:p>
                      <a:pPr lvl="0">
                        <a:buNone/>
                      </a:pP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몬스터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 1종(</a:t>
                      </a: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단순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정찰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</a:p>
                    <a:p>
                      <a:pPr lvl="0">
                        <a:buNone/>
                      </a:pP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보스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 6종 (</a:t>
                      </a: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Idle,walk,attack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,…)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097720"/>
                  </a:ext>
                </a:extLst>
              </a:tr>
              <a:tr h="6535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err="1"/>
                        <a:t>보스</a:t>
                      </a:r>
                      <a:endParaRPr lang="en-US" altLang="ko-KR" sz="1400" b="1" dirty="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400" b="0" err="1"/>
                        <a:t>보스</a:t>
                      </a:r>
                      <a:r>
                        <a:rPr lang="en-US" altLang="ko-KR" sz="1400" b="0" dirty="0"/>
                        <a:t> </a:t>
                      </a:r>
                      <a:r>
                        <a:rPr lang="en-US" altLang="ko-KR" sz="1400" b="0" err="1"/>
                        <a:t>행동트리</a:t>
                      </a:r>
                      <a:r>
                        <a:rPr lang="en-US" altLang="ko-KR" sz="1400" b="0" dirty="0"/>
                        <a:t> </a:t>
                      </a:r>
                      <a:r>
                        <a:rPr lang="en-US" altLang="ko-KR" sz="1400" b="0" err="1"/>
                        <a:t>구현</a:t>
                      </a:r>
                      <a:endParaRPr lang="en-US" altLang="ko-KR" sz="1400" b="0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4가지 패턴(</a:t>
                      </a:r>
                      <a:r>
                        <a:rPr lang="ko-KR" altLang="en-US" sz="1200" b="0" i="0" u="none" strike="noStrike" noProof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Attack</a:t>
                      </a: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altLang="en-US" sz="1200" b="0" i="0" u="none" strike="noStrike" noProof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Walk</a:t>
                      </a: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altLang="en-US" sz="1200" b="0" i="0" u="none" strike="noStrike" noProof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Jump</a:t>
                      </a: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altLang="en-US" sz="1200" b="0" i="0" u="none" strike="noStrike" noProof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Shout</a:t>
                      </a: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 sz="1200" b="0" i="0" u="none" strike="noStrike" noProof="0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쿨다운용</a:t>
                      </a: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상태(</a:t>
                      </a:r>
                      <a:r>
                        <a:rPr lang="ko-KR" altLang="en-US" sz="1200" b="0" i="0" u="none" strike="noStrike" noProof="0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Think</a:t>
                      </a: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</a:rPr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153828"/>
                  </a:ext>
                </a:extLst>
              </a:tr>
              <a:tr h="6535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400" b="1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애니메이션</a:t>
                      </a:r>
                      <a:endParaRPr 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0" dirty="0" err="1"/>
                        <a:t>캐릭터</a:t>
                      </a:r>
                      <a:r>
                        <a:rPr lang="en-US" altLang="ko-KR" sz="1400" b="0" dirty="0"/>
                        <a:t>/</a:t>
                      </a:r>
                      <a:r>
                        <a:rPr lang="en-US" altLang="ko-KR" sz="1400" b="0" dirty="0" err="1"/>
                        <a:t>보스</a:t>
                      </a:r>
                      <a:r>
                        <a:rPr lang="en-US" altLang="ko-KR" sz="1400" b="0" dirty="0"/>
                        <a:t> </a:t>
                      </a:r>
                      <a:r>
                        <a:rPr lang="en-US" altLang="ko-KR" sz="1400" b="0" dirty="0" err="1"/>
                        <a:t>기본</a:t>
                      </a:r>
                      <a:r>
                        <a:rPr lang="en-US" altLang="ko-KR" sz="1400" b="0" dirty="0"/>
                        <a:t> </a:t>
                      </a:r>
                      <a:r>
                        <a:rPr lang="en-US" altLang="ko-KR" sz="1400" b="0" dirty="0" err="1"/>
                        <a:t>동작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상태별 </a:t>
                      </a:r>
                      <a:r>
                        <a:rPr lang="ko-KR" altLang="en-US" sz="1200" b="0" i="0" u="none" strike="noStrike" noProof="0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스프라이트</a:t>
                      </a: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시트 기반 애니메이션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</a:rP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875103"/>
                  </a:ext>
                </a:extLst>
              </a:tr>
              <a:tr h="638724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400" b="1" dirty="0"/>
                        <a:t>사운드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altLang="ko-KR" sz="1400" b="0" dirty="0"/>
                      </a:br>
                      <a:r>
                        <a:rPr lang="en-US" altLang="ko-KR" sz="1400" b="0" dirty="0" err="1"/>
                        <a:t>배경음</a:t>
                      </a:r>
                      <a:r>
                        <a:rPr lang="en-US" altLang="ko-KR" sz="1400" b="0" dirty="0"/>
                        <a:t> </a:t>
                      </a:r>
                      <a:br>
                        <a:rPr lang="en-US" altLang="ko-KR" sz="1400" b="0" dirty="0"/>
                      </a:br>
                      <a:r>
                        <a:rPr lang="en-US" altLang="ko-KR" sz="1400" b="0" dirty="0"/>
                        <a:t>및</a:t>
                      </a:r>
                      <a:br>
                        <a:rPr lang="en-US" altLang="ko-KR" sz="1400" b="0" dirty="0"/>
                      </a:br>
                      <a:r>
                        <a:rPr lang="en-US" altLang="ko-KR" sz="1400" b="0" dirty="0" err="1"/>
                        <a:t>액션별</a:t>
                      </a:r>
                      <a:r>
                        <a:rPr lang="en-US" altLang="ko-KR" sz="1400" b="0" dirty="0"/>
                        <a:t> </a:t>
                      </a:r>
                      <a:r>
                        <a:rPr lang="en-US" altLang="ko-KR" sz="1400" b="0" dirty="0" err="1"/>
                        <a:t>효과음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상황별 BGM(</a:t>
                      </a:r>
                      <a:r>
                        <a:rPr lang="ko-KR" altLang="en-US" sz="1200" b="0" i="0" u="none" strike="noStrike" noProof="0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스테이지,보스전</a:t>
                      </a: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r>
                        <a:rPr lang="ko-KR" altLang="en-US" sz="14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endParaRPr 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</a:rP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300398"/>
                  </a:ext>
                </a:extLst>
              </a:tr>
              <a:tr h="638724">
                <a:tc v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400" b="1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액션별 효과음</a:t>
                      </a:r>
                      <a:r>
                        <a:rPr lang="en-US" altLang="ko-KR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점프</a:t>
                      </a:r>
                      <a:r>
                        <a:rPr lang="en-US" altLang="ko-KR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뛰기</a:t>
                      </a:r>
                      <a:r>
                        <a:rPr lang="en-US" altLang="ko-KR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멈추기</a:t>
                      </a:r>
                      <a:r>
                        <a:rPr lang="en-US" altLang="ko-KR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흡입</a:t>
                      </a:r>
                      <a:r>
                        <a:rPr lang="en-US" altLang="ko-KR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발사</a:t>
                      </a:r>
                      <a:r>
                        <a:rPr lang="en-US" altLang="ko-KR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낙하</a:t>
                      </a:r>
                      <a:r>
                        <a:rPr lang="en-US" altLang="ko-KR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피격</a:t>
                      </a:r>
                      <a:r>
                        <a:rPr lang="en-US" altLang="ko-KR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보스착지</a:t>
                      </a:r>
                      <a:r>
                        <a:rPr lang="en-US" altLang="ko-KR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1200" b="0" i="0" u="none" strike="noStrike" noProof="0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보스샤우팅</a:t>
                      </a:r>
                      <a:r>
                        <a:rPr lang="en-US" altLang="ko-KR" sz="1200" b="0" i="0" u="none" strike="noStrike" noProof="0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endParaRPr 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</a:rPr>
                        <a:t>70%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009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9560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DD493-513E-05FA-7FF5-4EBCEE14F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0296429-8808-4FC1-CFB8-4BCC915CB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39197"/>
              </p:ext>
            </p:extLst>
          </p:nvPr>
        </p:nvGraphicFramePr>
        <p:xfrm>
          <a:off x="523055" y="352209"/>
          <a:ext cx="8097891" cy="832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7891">
                  <a:extLst>
                    <a:ext uri="{9D8B030D-6E8A-4147-A177-3AD203B41FA5}">
                      <a16:colId xmlns:a16="http://schemas.microsoft.com/office/drawing/2014/main" val="2641068669"/>
                    </a:ext>
                  </a:extLst>
                </a:gridCol>
              </a:tblGrid>
              <a:tr h="83240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ko-KR" altLang="en-US" sz="2400" b="1" i="0" u="none" strike="noStrike" noProof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latin typeface="Calibri Light"/>
                          <a:ea typeface="KoPubWorldDotum Bold"/>
                        </a:rPr>
                        <a:t>깃 </a:t>
                      </a:r>
                      <a:r>
                        <a:rPr lang="ko-KR" altLang="en-US" sz="2400" b="1" i="0" u="none" strike="noStrike" noProof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latin typeface="Calibri Light"/>
                          <a:ea typeface="KoPubWorldDotum Bold"/>
                        </a:rPr>
                        <a:t>커밋</a:t>
                      </a:r>
                      <a:r>
                        <a:rPr lang="ko-KR" altLang="en-US" sz="2400" b="1" i="0" u="none" strike="noStrike" noProof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latin typeface="Calibri Light"/>
                          <a:ea typeface="KoPubWorldDotum Bold"/>
                        </a:rPr>
                        <a:t> 통계  - </a:t>
                      </a:r>
                      <a:r>
                        <a:rPr lang="ko-KR" altLang="en-US" sz="2000" b="1" i="0" u="none" strike="noStrike" noProof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latin typeface="Calibri Light"/>
                          <a:ea typeface="KoPubWorldDotum Bold"/>
                        </a:rPr>
                        <a:t>주별 </a:t>
                      </a:r>
                      <a:r>
                        <a:rPr lang="ko-KR" altLang="en-US" sz="2000" b="1" i="0" u="none" strike="noStrike" noProof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latin typeface="Calibri Light"/>
                          <a:ea typeface="KoPubWorldDotum Bold"/>
                        </a:rPr>
                        <a:t>커밋</a:t>
                      </a:r>
                      <a:r>
                        <a:rPr lang="ko-KR" altLang="en-US" sz="2000" b="1" i="0" u="none" strike="noStrike" noProof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latin typeface="Calibri Light"/>
                          <a:ea typeface="KoPubWorldDotum Bold"/>
                        </a:rPr>
                        <a:t> 횟수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94861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93D409E-E0C1-57AE-DB5B-30C899668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577555"/>
              </p:ext>
            </p:extLst>
          </p:nvPr>
        </p:nvGraphicFramePr>
        <p:xfrm>
          <a:off x="163974" y="2170252"/>
          <a:ext cx="2989898" cy="385545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65139">
                  <a:extLst>
                    <a:ext uri="{9D8B030D-6E8A-4147-A177-3AD203B41FA5}">
                      <a16:colId xmlns:a16="http://schemas.microsoft.com/office/drawing/2014/main" val="515241313"/>
                    </a:ext>
                  </a:extLst>
                </a:gridCol>
                <a:gridCol w="1224759">
                  <a:extLst>
                    <a:ext uri="{9D8B030D-6E8A-4147-A177-3AD203B41FA5}">
                      <a16:colId xmlns:a16="http://schemas.microsoft.com/office/drawing/2014/main" val="1792546599"/>
                    </a:ext>
                  </a:extLst>
                </a:gridCol>
              </a:tblGrid>
              <a:tr h="371455"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effectLst/>
                          <a:ea typeface="Malgun Gothic"/>
                        </a:rPr>
                        <a:t>주</a:t>
                      </a:r>
                    </a:p>
                  </a:txBody>
                  <a:tcPr marL="86105" marR="86105" marT="43053" marB="43053" anchor="ctr">
                    <a:lnL w="11953">
                      <a:solidFill>
                        <a:srgbClr val="FFFFFF"/>
                      </a:solidFill>
                    </a:lnL>
                    <a:lnR w="11953">
                      <a:solidFill>
                        <a:srgbClr val="FFFFFF"/>
                      </a:solidFill>
                    </a:lnR>
                    <a:lnT w="35870">
                      <a:solidFill>
                        <a:srgbClr val="FFFFFF"/>
                      </a:solidFill>
                    </a:lnT>
                    <a:lnB w="11953">
                      <a:solidFill>
                        <a:srgbClr val="FFFFFF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ko-KR" altLang="en-US" sz="1400" b="1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커밋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횟수</a:t>
                      </a:r>
                    </a:p>
                  </a:txBody>
                  <a:tcPr marL="86105" marR="86105" marT="43053" marB="43053">
                    <a:lnL w="11953">
                      <a:solidFill>
                        <a:srgbClr val="FFFFFF"/>
                      </a:solidFill>
                    </a:lnL>
                    <a:lnR w="11953">
                      <a:solidFill>
                        <a:srgbClr val="FFFFFF"/>
                      </a:solidFill>
                    </a:lnR>
                    <a:lnT w="35870">
                      <a:solidFill>
                        <a:srgbClr val="FFFFFF"/>
                      </a:solidFill>
                    </a:lnT>
                    <a:lnB w="11953">
                      <a:solidFill>
                        <a:srgbClr val="FFFFFF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184629"/>
                  </a:ext>
                </a:extLst>
              </a:tr>
              <a:tr h="37145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ko-KR" altLang="en-US" sz="1400" b="1" err="1">
                          <a:effectLst/>
                          <a:ea typeface="Malgun Gothic"/>
                        </a:rPr>
                        <a:t>Week</a:t>
                      </a:r>
                      <a:r>
                        <a:rPr lang="ko-KR" altLang="en-US" sz="1400" b="1" dirty="0">
                          <a:effectLst/>
                          <a:ea typeface="Malgun Gothic"/>
                        </a:rPr>
                        <a:t> of 28 Sep</a:t>
                      </a:r>
                    </a:p>
                  </a:txBody>
                  <a:tcPr marL="86106" marR="86106" marT="43053" marB="43053" anchor="ctr">
                    <a:lnL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ko-KR" altLang="en-US" sz="1600" b="1" dirty="0"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86106" marR="86106" marT="43053" marB="43053">
                    <a:lnL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461092"/>
                  </a:ext>
                </a:extLst>
              </a:tr>
              <a:tr h="345838">
                <a:tc>
                  <a:txBody>
                    <a:bodyPr/>
                    <a:lstStyle/>
                    <a:p>
                      <a:pPr marL="0" lvl="0" algn="ctr">
                        <a:lnSpc>
                          <a:spcPts val="1575"/>
                        </a:lnSpc>
                        <a:buNone/>
                      </a:pPr>
                      <a:r>
                        <a:rPr lang="en-US" altLang="ko-KR" sz="14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Week</a:t>
                      </a:r>
                      <a:r>
                        <a:rPr lang="ko-KR" altLang="en-US" sz="14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4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of</a:t>
                      </a:r>
                      <a:r>
                        <a:rPr lang="ko-KR" altLang="en-US" sz="14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4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12</a:t>
                      </a:r>
                      <a:r>
                        <a:rPr lang="ko-KR" altLang="en-US" sz="14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 </a:t>
                      </a:r>
                      <a:r>
                        <a:rPr lang="en-US" sz="14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Oct</a:t>
                      </a:r>
                      <a:endParaRPr lang="ko-KR" altLang="en-US" dirty="0"/>
                    </a:p>
                  </a:txBody>
                  <a:tcPr marL="86106" marR="86106" marT="43053" marB="43053" anchor="ctr">
                    <a:lnL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base" latinLnBrk="1" hangingPunct="1">
                        <a:lnSpc>
                          <a:spcPts val="1575"/>
                        </a:lnSpc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algun Gothic"/>
                          <a:cs typeface="+mn-cs"/>
                        </a:rPr>
                        <a:t>2</a:t>
                      </a:r>
                    </a:p>
                  </a:txBody>
                  <a:tcPr marL="86106" marR="86106" marT="43053" marB="43053">
                    <a:lnL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159554"/>
                  </a:ext>
                </a:extLst>
              </a:tr>
              <a:tr h="345838"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ko-KR" sz="14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Week</a:t>
                      </a:r>
                      <a:r>
                        <a:rPr 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of </a:t>
                      </a:r>
                      <a:r>
                        <a:rPr lang="en-US" alt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19</a:t>
                      </a:r>
                      <a:r>
                        <a:rPr 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 </a:t>
                      </a:r>
                      <a:r>
                        <a:rPr lang="en-US" alt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Oct</a:t>
                      </a:r>
                      <a:endParaRPr lang="ko-KR" sz="1400"/>
                    </a:p>
                  </a:txBody>
                  <a:tcPr marL="86106" marR="86106" marT="43053" marB="43053" anchor="ctr">
                    <a:lnL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86106" marR="86106" marT="43053" marB="43053">
                    <a:lnL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537071"/>
                  </a:ext>
                </a:extLst>
              </a:tr>
              <a:tr h="345838"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ko-KR" sz="14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Week</a:t>
                      </a:r>
                      <a:r>
                        <a:rPr 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of </a:t>
                      </a:r>
                      <a:r>
                        <a:rPr lang="en-US" alt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26</a:t>
                      </a:r>
                      <a:r>
                        <a:rPr 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Oct</a:t>
                      </a:r>
                      <a:endParaRPr lang="ko-KR" sz="1400"/>
                    </a:p>
                  </a:txBody>
                  <a:tcPr marL="86106" marR="86106" marT="43053" marB="43053" anchor="ctr">
                    <a:lnL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ko-KR" altLang="en-US" sz="1600" b="1" dirty="0">
                          <a:effectLst/>
                          <a:latin typeface="Calibri"/>
                        </a:rPr>
                        <a:t>14</a:t>
                      </a:r>
                    </a:p>
                  </a:txBody>
                  <a:tcPr marL="86106" marR="86106" marT="43053" marB="43053">
                    <a:lnL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713679"/>
                  </a:ext>
                </a:extLst>
              </a:tr>
              <a:tr h="345838"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ko-KR" sz="14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Week</a:t>
                      </a:r>
                      <a:r>
                        <a:rPr 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of </a:t>
                      </a:r>
                      <a:r>
                        <a:rPr lang="en-US" alt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2</a:t>
                      </a:r>
                      <a:r>
                        <a:rPr 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Nov</a:t>
                      </a:r>
                      <a:endParaRPr lang="ko-KR" sz="1400"/>
                    </a:p>
                  </a:txBody>
                  <a:tcPr marL="86106" marR="86106" marT="43053" marB="43053" anchor="ctr">
                    <a:lnL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ko-KR" altLang="en-US" sz="1600" b="1" dirty="0">
                          <a:effectLst/>
                          <a:latin typeface="Calibri"/>
                        </a:rPr>
                        <a:t>56</a:t>
                      </a:r>
                    </a:p>
                  </a:txBody>
                  <a:tcPr marL="86106" marR="86106" marT="43053" marB="43053">
                    <a:lnL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523820"/>
                  </a:ext>
                </a:extLst>
              </a:tr>
              <a:tr h="345838"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ko-KR" sz="14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Week</a:t>
                      </a:r>
                      <a:r>
                        <a:rPr 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of </a:t>
                      </a:r>
                      <a:r>
                        <a:rPr lang="en-US" alt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29</a:t>
                      </a:r>
                      <a:r>
                        <a:rPr 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Nov</a:t>
                      </a:r>
                      <a:endParaRPr lang="ko-KR" sz="1400" b="1" i="0" u="none" strike="noStrike" noProof="0" dirty="0"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</a:txBody>
                  <a:tcPr marL="86106" marR="86106" marT="43053" marB="43053" anchor="ctr">
                    <a:lnL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575"/>
                        </a:lnSpc>
                        <a:buNone/>
                      </a:pPr>
                      <a:r>
                        <a:rPr lang="ko-KR" altLang="en-US" sz="1600" b="1" dirty="0">
                          <a:effectLst/>
                          <a:latin typeface="Calibri"/>
                        </a:rPr>
                        <a:t>29</a:t>
                      </a:r>
                    </a:p>
                  </a:txBody>
                  <a:tcPr marL="86106" marR="86106" marT="43053" marB="43053">
                    <a:lnL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385004"/>
                  </a:ext>
                </a:extLst>
              </a:tr>
              <a:tr h="345838"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ko-KR" sz="14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Week</a:t>
                      </a:r>
                      <a:r>
                        <a:rPr 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of </a:t>
                      </a:r>
                      <a:r>
                        <a:rPr lang="en-US" alt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16</a:t>
                      </a:r>
                      <a:r>
                        <a:rPr 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 </a:t>
                      </a:r>
                      <a:r>
                        <a:rPr lang="en-US" alt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Nov</a:t>
                      </a:r>
                      <a:endParaRPr lang="ko-KR" sz="1400"/>
                    </a:p>
                  </a:txBody>
                  <a:tcPr marL="86105" marR="86105" marT="43053" marB="43053" anchor="ctr">
                    <a:lnL w="11953">
                      <a:solidFill>
                        <a:srgbClr val="FFFFFF"/>
                      </a:solidFill>
                    </a:lnL>
                    <a:lnR w="11953">
                      <a:solidFill>
                        <a:srgbClr val="FFFFFF"/>
                      </a:solidFill>
                    </a:lnR>
                    <a:lnT w="11953">
                      <a:solidFill>
                        <a:srgbClr val="FFFFFF"/>
                      </a:solidFill>
                    </a:lnT>
                    <a:lnB w="11953">
                      <a:solidFill>
                        <a:srgbClr val="FFFFFF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ko-KR" altLang="en-US" sz="1600" b="1" dirty="0">
                          <a:effectLst/>
                          <a:latin typeface="Calibri"/>
                        </a:rPr>
                        <a:t>33</a:t>
                      </a:r>
                    </a:p>
                  </a:txBody>
                  <a:tcPr marL="86105" marR="86105" marT="43053" marB="43053">
                    <a:lnL w="11953">
                      <a:solidFill>
                        <a:srgbClr val="FFFFFF"/>
                      </a:solidFill>
                    </a:lnL>
                    <a:lnR w="11953">
                      <a:solidFill>
                        <a:srgbClr val="FFFFFF"/>
                      </a:solidFill>
                    </a:lnR>
                    <a:lnT w="11953">
                      <a:solidFill>
                        <a:srgbClr val="FFFFFF"/>
                      </a:solidFill>
                    </a:lnT>
                    <a:lnB w="11953">
                      <a:solidFill>
                        <a:srgbClr val="FFFFFF"/>
                      </a:solidFill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995318"/>
                  </a:ext>
                </a:extLst>
              </a:tr>
              <a:tr h="345838"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ko-KR" sz="14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Week</a:t>
                      </a:r>
                      <a:r>
                        <a:rPr 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of </a:t>
                      </a:r>
                      <a:r>
                        <a:rPr lang="en-US" alt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23</a:t>
                      </a:r>
                      <a:r>
                        <a:rPr 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Nov</a:t>
                      </a:r>
                      <a:endParaRPr lang="ko-KR" sz="1400" b="1" i="0" u="none" strike="noStrike" noProof="0" dirty="0"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</a:txBody>
                  <a:tcPr marL="86105" marR="86105" marT="43053" marB="43053" anchor="ctr">
                    <a:lnL w="11953">
                      <a:solidFill>
                        <a:srgbClr val="FFFFFF"/>
                      </a:solidFill>
                    </a:lnL>
                    <a:lnR w="11953">
                      <a:solidFill>
                        <a:srgbClr val="FFFFFF"/>
                      </a:solidFill>
                    </a:lnR>
                    <a:lnT w="11953">
                      <a:solidFill>
                        <a:srgbClr val="FFFFFF"/>
                      </a:solidFill>
                    </a:lnT>
                    <a:lnB w="1195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ko-KR" altLang="en-US" sz="1600" b="1" dirty="0">
                          <a:effectLst/>
                          <a:latin typeface="Calibri"/>
                        </a:rPr>
                        <a:t>25</a:t>
                      </a:r>
                    </a:p>
                  </a:txBody>
                  <a:tcPr marL="86105" marR="86105" marT="43053" marB="43053">
                    <a:lnL w="11953">
                      <a:solidFill>
                        <a:srgbClr val="FFFFFF"/>
                      </a:solidFill>
                    </a:lnL>
                    <a:lnR w="11953">
                      <a:solidFill>
                        <a:srgbClr val="FFFFFF"/>
                      </a:solidFill>
                    </a:lnR>
                    <a:lnT w="11953">
                      <a:solidFill>
                        <a:srgbClr val="FFFFFF"/>
                      </a:solidFill>
                    </a:lnT>
                    <a:lnB w="1195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026484"/>
                  </a:ext>
                </a:extLst>
              </a:tr>
              <a:tr h="345838"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en-US" alt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Week of 30 </a:t>
                      </a: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Nov</a:t>
                      </a:r>
                      <a:endParaRPr lang="en-US" altLang="ko-KR" sz="1400" b="1" i="0" u="none" strike="noStrike" noProof="0" dirty="0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</a:txBody>
                  <a:tcPr marL="86105" marR="86105" marT="43053" marB="43053" anchor="ctr">
                    <a:lnL w="11952">
                      <a:solidFill>
                        <a:srgbClr val="FFFFFF"/>
                      </a:solidFill>
                    </a:lnL>
                    <a:lnR w="11952">
                      <a:solidFill>
                        <a:srgbClr val="FFFFFF"/>
                      </a:solidFill>
                    </a:lnR>
                    <a:lnT w="11952">
                      <a:solidFill>
                        <a:srgbClr val="FFFFFF"/>
                      </a:solidFill>
                    </a:lnT>
                    <a:lnB w="1195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ko-KR" altLang="en-US" sz="1600" b="1" dirty="0">
                          <a:effectLst/>
                          <a:latin typeface="Calibri"/>
                        </a:rPr>
                        <a:t>36</a:t>
                      </a:r>
                    </a:p>
                  </a:txBody>
                  <a:tcPr marL="86105" marR="86105" marT="43053" marB="43053">
                    <a:lnL w="11952">
                      <a:solidFill>
                        <a:srgbClr val="FFFFFF"/>
                      </a:solidFill>
                    </a:lnL>
                    <a:lnR w="11952">
                      <a:solidFill>
                        <a:srgbClr val="FFFFFF"/>
                      </a:solidFill>
                    </a:lnR>
                    <a:lnT w="11952">
                      <a:solidFill>
                        <a:srgbClr val="FFFFFF"/>
                      </a:solidFill>
                    </a:lnT>
                    <a:lnB w="1195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35789"/>
                  </a:ext>
                </a:extLst>
              </a:tr>
              <a:tr h="345838"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Week of 7 Dec</a:t>
                      </a:r>
                      <a:endParaRPr lang="ko-KR" altLang="en-US" sz="1400"/>
                    </a:p>
                  </a:txBody>
                  <a:tcPr marL="86105" marR="86105" marT="43053" marB="43053" anchor="ctr">
                    <a:lnL w="11952">
                      <a:solidFill>
                        <a:srgbClr val="FFFFFF"/>
                      </a:solidFill>
                    </a:lnL>
                    <a:lnR w="11952">
                      <a:solidFill>
                        <a:srgbClr val="FFFFFF"/>
                      </a:solidFill>
                    </a:lnR>
                    <a:lnT w="11952">
                      <a:solidFill>
                        <a:srgbClr val="FFFFFF"/>
                      </a:solidFill>
                    </a:lnT>
                    <a:lnB w="11952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ko-KR" altLang="en-US" sz="1600" b="1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6105" marR="86105" marT="43053" marB="43053">
                    <a:lnL w="11952">
                      <a:solidFill>
                        <a:srgbClr val="FFFFFF"/>
                      </a:solidFill>
                    </a:lnL>
                    <a:lnR w="11952">
                      <a:solidFill>
                        <a:srgbClr val="FFFFFF"/>
                      </a:solidFill>
                    </a:lnR>
                    <a:lnT w="11952">
                      <a:solidFill>
                        <a:srgbClr val="FFFFFF"/>
                      </a:solidFill>
                    </a:lnT>
                    <a:lnB w="11952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690937"/>
                  </a:ext>
                </a:extLst>
              </a:tr>
            </a:tbl>
          </a:graphicData>
        </a:graphic>
      </p:graphicFrame>
      <p:pic>
        <p:nvPicPr>
          <p:cNvPr id="6" name="그림 5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482E40-1BF8-9B5D-AB60-F76CE54F8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289" y="2341796"/>
            <a:ext cx="5876964" cy="331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71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Application>Microsoft Office PowerPoint</Application>
  <PresentationFormat>화면 슬라이드 쇼(4:3)</PresentationFormat>
  <Slides>3</Slides>
  <Notes>3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로그 기반의 위협 IP 데이터베이스 구축을 통한 보안 대응 자동화 방안 연구</dc:title>
  <dc:creator>Microsoft Office User</dc:creator>
  <cp:revision>146</cp:revision>
  <cp:lastPrinted>2024-11-28T02:06:08Z</cp:lastPrinted>
  <dcterms:created xsi:type="dcterms:W3CDTF">2024-11-20T01:11:10Z</dcterms:created>
  <dcterms:modified xsi:type="dcterms:W3CDTF">2025-12-07T09:24:44Z</dcterms:modified>
</cp:coreProperties>
</file>